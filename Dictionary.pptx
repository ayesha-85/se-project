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338" r:id="rId3"/>
    <p:sldId id="336" r:id="rId4"/>
    <p:sldId id="337" r:id="rId5"/>
    <p:sldId id="339" r:id="rId6"/>
    <p:sldId id="354" r:id="rId7"/>
    <p:sldId id="340" r:id="rId8"/>
    <p:sldId id="357" r:id="rId9"/>
    <p:sldId id="356" r:id="rId10"/>
    <p:sldId id="341" r:id="rId11"/>
    <p:sldId id="342" r:id="rId12"/>
    <p:sldId id="343" r:id="rId13"/>
    <p:sldId id="344" r:id="rId14"/>
    <p:sldId id="346" r:id="rId15"/>
    <p:sldId id="355" r:id="rId16"/>
    <p:sldId id="345" r:id="rId17"/>
    <p:sldId id="347" r:id="rId18"/>
    <p:sldId id="348" r:id="rId19"/>
    <p:sldId id="349" r:id="rId20"/>
    <p:sldId id="350" r:id="rId21"/>
    <p:sldId id="351" r:id="rId22"/>
    <p:sldId id="352" r:id="rId23"/>
    <p:sldId id="35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abhitesh-Student-CBSE-Oxford Grammar School" initials="AGS" lastIdx="1" clrIdx="0">
    <p:extLst>
      <p:ext uri="{19B8F6BF-5375-455C-9EA6-DF929625EA0E}">
        <p15:presenceInfo xmlns:p15="http://schemas.microsoft.com/office/powerpoint/2012/main" userId="S::CB.01142@ogshyd.online::d6349573-7b8c-4ece-a501-c57ddeca9ee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C7A4"/>
    <a:srgbClr val="F6BE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34" autoAdjust="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7-05T08:53:37.1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26194 5531 0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7-05T09:08:09.2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14610 11237 0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EB0E7-9BCA-4E17-A9D4-E0C73BA2820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8399D-40B2-4E96-8080-7E0AE0DFE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229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EB0E7-9BCA-4E17-A9D4-E0C73BA2820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8399D-40B2-4E96-8080-7E0AE0DFE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821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EB0E7-9BCA-4E17-A9D4-E0C73BA2820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8399D-40B2-4E96-8080-7E0AE0DFE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009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EB0E7-9BCA-4E17-A9D4-E0C73BA2820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8399D-40B2-4E96-8080-7E0AE0DFE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EB0E7-9BCA-4E17-A9D4-E0C73BA2820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8399D-40B2-4E96-8080-7E0AE0DFE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689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EB0E7-9BCA-4E17-A9D4-E0C73BA2820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8399D-40B2-4E96-8080-7E0AE0DFE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464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EB0E7-9BCA-4E17-A9D4-E0C73BA2820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8399D-40B2-4E96-8080-7E0AE0DFE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703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EB0E7-9BCA-4E17-A9D4-E0C73BA2820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8399D-40B2-4E96-8080-7E0AE0DFE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148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EB0E7-9BCA-4E17-A9D4-E0C73BA2820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8399D-40B2-4E96-8080-7E0AE0DFE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45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EB0E7-9BCA-4E17-A9D4-E0C73BA2820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8399D-40B2-4E96-8080-7E0AE0DFE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02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EB0E7-9BCA-4E17-A9D4-E0C73BA2820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8399D-40B2-4E96-8080-7E0AE0DFE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394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EB0E7-9BCA-4E17-A9D4-E0C73BA2820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8399D-40B2-4E96-8080-7E0AE0DFE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300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gramiz.com/python-programming/methods/dictionary/values" TargetMode="External"/><Relationship Id="rId3" Type="http://schemas.openxmlformats.org/officeDocument/2006/relationships/hyperlink" Target="https://www.programiz.com/python-programming/methods/built-in/any" TargetMode="External"/><Relationship Id="rId7" Type="http://schemas.openxmlformats.org/officeDocument/2006/relationships/hyperlink" Target="https://www.programiz.com/python-programming/methods/dictionary/keys" TargetMode="External"/><Relationship Id="rId2" Type="http://schemas.openxmlformats.org/officeDocument/2006/relationships/hyperlink" Target="https://www.programiz.com/python-programming/methods/built-in/al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programiz.com/python-programming/methods/dictionary/clear" TargetMode="External"/><Relationship Id="rId5" Type="http://schemas.openxmlformats.org/officeDocument/2006/relationships/hyperlink" Target="https://www.programiz.com/python-programming/methods/built-in/sorted" TargetMode="External"/><Relationship Id="rId4" Type="http://schemas.openxmlformats.org/officeDocument/2006/relationships/hyperlink" Target="https://www.programiz.com/python-programming/methods/built-in/len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customXml" Target="../ink/ink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emf"/><Relationship Id="rId4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33862" y="1457850"/>
            <a:ext cx="6956520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6000" b="1" cap="none" spc="0" dirty="0">
                <a:ln/>
                <a:solidFill>
                  <a:schemeClr val="accent2">
                    <a:lumMod val="75000"/>
                  </a:schemeClr>
                </a:solidFill>
                <a:effectLst/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571221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2076805" y="2177075"/>
            <a:ext cx="8136904" cy="1152128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solidFill>
                  <a:srgbClr val="0070C0"/>
                </a:solidFill>
              </a:rPr>
              <a:t>Dictionaries in Python</a:t>
            </a:r>
            <a:endParaRPr lang="en-US" sz="8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844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01751" y="228600"/>
            <a:ext cx="11454077" cy="758952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0070C0"/>
                </a:solidFill>
                <a:latin typeface="+mn-lt"/>
              </a:rPr>
              <a:t>What is a Dictionary?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11413170" cy="4494240"/>
          </a:xfrm>
        </p:spPr>
        <p:txBody>
          <a:bodyPr>
            <a:noAutofit/>
          </a:bodyPr>
          <a:lstStyle/>
          <a:p>
            <a:pPr algn="just">
              <a:buClr>
                <a:srgbClr val="0070C0"/>
              </a:buClr>
            </a:pPr>
            <a:r>
              <a:rPr lang="en-US" sz="3200" dirty="0"/>
              <a:t>Python provides another composite data structure called a </a:t>
            </a:r>
            <a:r>
              <a:rPr lang="en-US" sz="3200" b="1" dirty="0">
                <a:solidFill>
                  <a:srgbClr val="C00000"/>
                </a:solidFill>
              </a:rPr>
              <a:t>dictionary</a:t>
            </a:r>
            <a:r>
              <a:rPr lang="en-US" sz="3200" dirty="0"/>
              <a:t>, which are used to store data values in </a:t>
            </a:r>
            <a:r>
              <a:rPr lang="en-US" sz="3200" b="1" dirty="0" err="1">
                <a:solidFill>
                  <a:srgbClr val="0070C0"/>
                </a:solidFill>
              </a:rPr>
              <a:t>key</a:t>
            </a:r>
            <a:r>
              <a:rPr lang="en-US" sz="3200" dirty="0" err="1"/>
              <a:t>:</a:t>
            </a:r>
            <a:r>
              <a:rPr lang="en-US" sz="3200" b="1" dirty="0" err="1">
                <a:solidFill>
                  <a:srgbClr val="7030A0"/>
                </a:solidFill>
              </a:rPr>
              <a:t>value</a:t>
            </a:r>
            <a:r>
              <a:rPr lang="en-US" sz="3200" dirty="0"/>
              <a:t> pairs.</a:t>
            </a:r>
          </a:p>
          <a:p>
            <a:pPr algn="just">
              <a:buClr>
                <a:srgbClr val="0070C0"/>
              </a:buClr>
            </a:pPr>
            <a:r>
              <a:rPr lang="en-US" sz="3200" dirty="0"/>
              <a:t>A </a:t>
            </a:r>
            <a:r>
              <a:rPr lang="en-US" sz="3200" u="sng" dirty="0"/>
              <a:t>dictionary</a:t>
            </a:r>
            <a:r>
              <a:rPr lang="en-US" sz="3200" dirty="0"/>
              <a:t> is a collection </a:t>
            </a:r>
            <a:r>
              <a:rPr lang="en-US" sz="3200"/>
              <a:t>which is</a:t>
            </a:r>
            <a:endParaRPr lang="en-US" sz="3200" dirty="0">
              <a:solidFill>
                <a:schemeClr val="tx1"/>
              </a:solidFill>
            </a:endParaRPr>
          </a:p>
          <a:p>
            <a:pPr lvl="1" algn="just">
              <a:buClrTx/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tx1"/>
                </a:solidFill>
              </a:rPr>
              <a:t>Changeable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tx1"/>
                </a:solidFill>
              </a:rPr>
              <a:t>Does not allow duplicates (cannot have two items with the same </a:t>
            </a:r>
            <a:r>
              <a:rPr lang="en-US" sz="3200" b="1" dirty="0">
                <a:solidFill>
                  <a:schemeClr val="tx1"/>
                </a:solidFill>
              </a:rPr>
              <a:t>key</a:t>
            </a:r>
            <a:r>
              <a:rPr lang="en-US" sz="3200" dirty="0">
                <a:solidFill>
                  <a:schemeClr val="tx1"/>
                </a:solidFill>
              </a:rPr>
              <a:t>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29486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ython Dictionary - Learn By Example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398" y="351606"/>
            <a:ext cx="6898368" cy="5448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1757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21021" y="413864"/>
            <a:ext cx="11399918" cy="6000187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3600" dirty="0"/>
              <a:t>A dictionary in Python is a </a:t>
            </a:r>
            <a:r>
              <a:rPr lang="en-US" sz="3600" b="1" dirty="0"/>
              <a:t>one to one mapping.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3600" dirty="0"/>
              <a:t>Dictionary holds a </a:t>
            </a:r>
            <a:r>
              <a:rPr lang="en-US" sz="3600" b="1" dirty="0"/>
              <a:t>pair of values</a:t>
            </a:r>
            <a:r>
              <a:rPr lang="en-US" sz="3600" dirty="0"/>
              <a:t>, one being the </a:t>
            </a:r>
            <a:r>
              <a:rPr lang="en-US" sz="3600" b="1" dirty="0"/>
              <a:t>Key</a:t>
            </a:r>
            <a:r>
              <a:rPr lang="en-US" sz="3600" dirty="0"/>
              <a:t> and the other corresponding pair element being its </a:t>
            </a:r>
            <a:r>
              <a:rPr lang="en-US" sz="3600" b="1" dirty="0"/>
              <a:t>Value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3600" b="1" dirty="0"/>
              <a:t>Values</a:t>
            </a:r>
            <a:r>
              <a:rPr lang="en-US" sz="3600" dirty="0"/>
              <a:t> in a dictionary can be of any data type and can be </a:t>
            </a:r>
            <a:r>
              <a:rPr lang="en-US" sz="3600" b="1" dirty="0"/>
              <a:t>duplicated</a:t>
            </a:r>
            <a:r>
              <a:rPr lang="en-US" sz="3600" dirty="0"/>
              <a:t>, whereas </a:t>
            </a:r>
            <a:r>
              <a:rPr lang="en-US" sz="3600" b="1" dirty="0"/>
              <a:t>Keys</a:t>
            </a:r>
            <a:r>
              <a:rPr lang="en-US" sz="3600" dirty="0"/>
              <a:t> of a Dictionary must be </a:t>
            </a:r>
            <a:r>
              <a:rPr lang="en-US" sz="3600" b="1" dirty="0"/>
              <a:t>unique</a:t>
            </a:r>
            <a:r>
              <a:rPr lang="en-US" sz="3600" dirty="0"/>
              <a:t> and can’t be repeated.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3600" dirty="0"/>
              <a:t>Dictionary </a:t>
            </a:r>
            <a:r>
              <a:rPr lang="en-US" sz="3600" b="1" dirty="0"/>
              <a:t>keys</a:t>
            </a:r>
            <a:r>
              <a:rPr lang="en-US" sz="3600" dirty="0"/>
              <a:t> are </a:t>
            </a:r>
            <a:r>
              <a:rPr lang="en-US" sz="3600" b="1" dirty="0"/>
              <a:t>case</a:t>
            </a:r>
            <a:r>
              <a:rPr lang="en-US" sz="3600" dirty="0"/>
              <a:t> </a:t>
            </a:r>
            <a:r>
              <a:rPr lang="en-US" sz="3600" b="1" dirty="0"/>
              <a:t>sensitive</a:t>
            </a:r>
            <a:r>
              <a:rPr lang="en-US" sz="3600" dirty="0"/>
              <a:t>, same name but different cases of Key will be treated distinctly.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3600" dirty="0"/>
              <a:t>Dictionaries are </a:t>
            </a:r>
            <a:r>
              <a:rPr lang="en-US" sz="3600" b="1" dirty="0"/>
              <a:t>indexed</a:t>
            </a:r>
            <a:r>
              <a:rPr lang="en-US" sz="3600" dirty="0"/>
              <a:t> using their </a:t>
            </a:r>
            <a:r>
              <a:rPr lang="en-US" sz="3600" b="1" dirty="0"/>
              <a:t>keys</a:t>
            </a:r>
            <a:r>
              <a:rPr lang="en-US" sz="3600" dirty="0"/>
              <a:t>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6243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BD8ED7-3123-91A7-9535-237859369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6699"/>
            <a:ext cx="11639550" cy="602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622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510790"/>
            <a:ext cx="8229600" cy="49492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0070C0"/>
                </a:solidFill>
                <a:latin typeface="+mn-lt"/>
              </a:rPr>
              <a:t>How to create a dictionary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990622" y="1830796"/>
            <a:ext cx="4267200" cy="45182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6241706" y="1830795"/>
            <a:ext cx="5021380" cy="45314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798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F5CF21-8043-F709-5151-A1AF04B1D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1550516"/>
            <a:ext cx="5783751" cy="51696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BADE7D-DF1A-529D-BA13-6CF712C597CC}"/>
              </a:ext>
            </a:extLst>
          </p:cNvPr>
          <p:cNvSpPr txBox="1"/>
          <p:nvPr/>
        </p:nvSpPr>
        <p:spPr>
          <a:xfrm>
            <a:off x="5972175" y="76200"/>
            <a:ext cx="2219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Dictionary with user input()</a:t>
            </a:r>
          </a:p>
        </p:txBody>
      </p:sp>
    </p:spTree>
    <p:extLst>
      <p:ext uri="{BB962C8B-B14F-4D97-AF65-F5344CB8AC3E}">
        <p14:creationId xmlns:p14="http://schemas.microsoft.com/office/powerpoint/2010/main" val="4222178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237D0B-EA00-9BF8-C22D-BA0186F55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969462"/>
            <a:ext cx="6799177" cy="53560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384B8D-36E8-F66C-45D8-3DA98B6B84C8}"/>
              </a:ext>
            </a:extLst>
          </p:cNvPr>
          <p:cNvSpPr txBox="1"/>
          <p:nvPr/>
        </p:nvSpPr>
        <p:spPr>
          <a:xfrm>
            <a:off x="2266950" y="532492"/>
            <a:ext cx="409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Nested dictionary</a:t>
            </a:r>
          </a:p>
        </p:txBody>
      </p:sp>
    </p:spTree>
    <p:extLst>
      <p:ext uri="{BB962C8B-B14F-4D97-AF65-F5344CB8AC3E}">
        <p14:creationId xmlns:p14="http://schemas.microsoft.com/office/powerpoint/2010/main" val="1454109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54" y="265794"/>
            <a:ext cx="8084003" cy="21848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84" y="2697402"/>
            <a:ext cx="8084003" cy="39870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1697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41" y="249011"/>
            <a:ext cx="8138555" cy="30892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670" y="3557361"/>
            <a:ext cx="7774216" cy="31012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7422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393" y="3526855"/>
            <a:ext cx="9683978" cy="28739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31" y="354204"/>
            <a:ext cx="7588156" cy="293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723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66" y="171450"/>
            <a:ext cx="9660391" cy="28020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66" y="3596141"/>
            <a:ext cx="11384098" cy="25143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3405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59" y="301624"/>
            <a:ext cx="10895012" cy="484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820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FA7847-B26F-E2A8-D757-D0915AE8D538}"/>
              </a:ext>
            </a:extLst>
          </p:cNvPr>
          <p:cNvSpPr txBox="1"/>
          <p:nvPr/>
        </p:nvSpPr>
        <p:spPr>
          <a:xfrm>
            <a:off x="1866900" y="771526"/>
            <a:ext cx="72771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  <a:t>Python Dictionary Methods</a:t>
            </a:r>
          </a:p>
          <a:p>
            <a:pPr algn="l"/>
            <a:r>
              <a:rPr lang="en-US" b="0" i="0" dirty="0">
                <a:effectLst/>
                <a:latin typeface="euclid_circular_a"/>
              </a:rPr>
              <a:t>Methods that are available with a dictionary are tabulated below. Some of them have already been used in the above examples.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C3390D-0C82-76C1-BC59-C0CDFCC30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007364"/>
              </p:ext>
            </p:extLst>
          </p:nvPr>
        </p:nvGraphicFramePr>
        <p:xfrm>
          <a:off x="1716258" y="1787078"/>
          <a:ext cx="8145194" cy="4712195"/>
        </p:xfrm>
        <a:graphic>
          <a:graphicData uri="http://schemas.openxmlformats.org/drawingml/2006/table">
            <a:tbl>
              <a:tblPr/>
              <a:tblGrid>
                <a:gridCol w="4072597">
                  <a:extLst>
                    <a:ext uri="{9D8B030D-6E8A-4147-A177-3AD203B41FA5}">
                      <a16:colId xmlns:a16="http://schemas.microsoft.com/office/drawing/2014/main" val="313698353"/>
                    </a:ext>
                  </a:extLst>
                </a:gridCol>
                <a:gridCol w="4072597">
                  <a:extLst>
                    <a:ext uri="{9D8B030D-6E8A-4147-A177-3AD203B41FA5}">
                      <a16:colId xmlns:a16="http://schemas.microsoft.com/office/drawing/2014/main" val="4064002392"/>
                    </a:ext>
                  </a:extLst>
                </a:gridCol>
              </a:tblGrid>
              <a:tr h="326842">
                <a:tc>
                  <a:txBody>
                    <a:bodyPr/>
                    <a:lstStyle/>
                    <a:p>
                      <a:pPr algn="l"/>
                      <a:r>
                        <a:rPr lang="en-IN" sz="1200" b="0">
                          <a:effectLst/>
                        </a:rPr>
                        <a:t>Function</a:t>
                      </a:r>
                    </a:p>
                  </a:txBody>
                  <a:tcPr marL="119215" marR="119215" marT="59607" marB="59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>
                          <a:effectLst/>
                        </a:rPr>
                        <a:t>Description</a:t>
                      </a:r>
                    </a:p>
                  </a:txBody>
                  <a:tcPr marL="119215" marR="119215" marT="59607" marB="59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181210"/>
                  </a:ext>
                </a:extLst>
              </a:tr>
              <a:tr h="709395">
                <a:tc>
                  <a:txBody>
                    <a:bodyPr/>
                    <a:lstStyle/>
                    <a:p>
                      <a:r>
                        <a:rPr lang="en-IN" sz="1200" u="none" strike="noStrike">
                          <a:solidFill>
                            <a:srgbClr val="0556F3"/>
                          </a:solidFill>
                          <a:effectLst/>
                          <a:hlinkClick r:id="rId2"/>
                        </a:rPr>
                        <a:t>all()</a:t>
                      </a:r>
                      <a:endParaRPr lang="en-IN" sz="1200">
                        <a:effectLst/>
                      </a:endParaRPr>
                    </a:p>
                  </a:txBody>
                  <a:tcPr marL="119215" marR="119215" marT="59607" marB="59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Return True if all keys of the dictionary are True (or if the dictionary is empty).</a:t>
                      </a:r>
                    </a:p>
                  </a:txBody>
                  <a:tcPr marL="119215" marR="119215" marT="59607" marB="59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313213"/>
                  </a:ext>
                </a:extLst>
              </a:tr>
              <a:tr h="902867">
                <a:tc>
                  <a:txBody>
                    <a:bodyPr/>
                    <a:lstStyle/>
                    <a:p>
                      <a:r>
                        <a:rPr lang="en-IN" sz="1200" u="none" strike="noStrike">
                          <a:solidFill>
                            <a:srgbClr val="0556F3"/>
                          </a:solidFill>
                          <a:effectLst/>
                          <a:hlinkClick r:id="rId3"/>
                        </a:rPr>
                        <a:t>any()</a:t>
                      </a:r>
                      <a:endParaRPr lang="en-IN" sz="1200">
                        <a:effectLst/>
                      </a:endParaRPr>
                    </a:p>
                  </a:txBody>
                  <a:tcPr marL="119215" marR="119215" marT="59607" marB="59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Return True if any key of the dictionary is true. If the dictionary is empty, return False.</a:t>
                      </a:r>
                    </a:p>
                  </a:txBody>
                  <a:tcPr marL="119215" marR="119215" marT="59607" marB="59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237956"/>
                  </a:ext>
                </a:extLst>
              </a:tr>
              <a:tr h="709395">
                <a:tc>
                  <a:txBody>
                    <a:bodyPr/>
                    <a:lstStyle/>
                    <a:p>
                      <a:r>
                        <a:rPr lang="en-IN" sz="1200" u="none" strike="noStrike">
                          <a:solidFill>
                            <a:srgbClr val="0556F3"/>
                          </a:solidFill>
                          <a:effectLst/>
                          <a:hlinkClick r:id="rId4"/>
                        </a:rPr>
                        <a:t>len()</a:t>
                      </a:r>
                      <a:endParaRPr lang="en-IN" sz="1200">
                        <a:effectLst/>
                      </a:endParaRPr>
                    </a:p>
                  </a:txBody>
                  <a:tcPr marL="119215" marR="119215" marT="59607" marB="59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Return the length (the number of items) in the dictionary.</a:t>
                      </a:r>
                    </a:p>
                  </a:txBody>
                  <a:tcPr marL="119215" marR="119215" marT="59607" marB="59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447715"/>
                  </a:ext>
                </a:extLst>
              </a:tr>
              <a:tr h="515924">
                <a:tc>
                  <a:txBody>
                    <a:bodyPr/>
                    <a:lstStyle/>
                    <a:p>
                      <a:r>
                        <a:rPr lang="en-IN" sz="1200" u="none" strike="noStrike">
                          <a:solidFill>
                            <a:srgbClr val="0556F3"/>
                          </a:solidFill>
                          <a:effectLst/>
                          <a:hlinkClick r:id="rId5"/>
                        </a:rPr>
                        <a:t>sorted()</a:t>
                      </a:r>
                      <a:endParaRPr lang="en-IN" sz="1200">
                        <a:effectLst/>
                      </a:endParaRPr>
                    </a:p>
                  </a:txBody>
                  <a:tcPr marL="119215" marR="119215" marT="59607" marB="59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Return a new sorted list of keys in the dictionary.</a:t>
                      </a:r>
                    </a:p>
                  </a:txBody>
                  <a:tcPr marL="119215" marR="119215" marT="59607" marB="59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496950"/>
                  </a:ext>
                </a:extLst>
              </a:tr>
              <a:tr h="515924">
                <a:tc>
                  <a:txBody>
                    <a:bodyPr/>
                    <a:lstStyle/>
                    <a:p>
                      <a:r>
                        <a:rPr lang="en-IN" sz="1200" u="none" strike="noStrike">
                          <a:solidFill>
                            <a:srgbClr val="0556F3"/>
                          </a:solidFill>
                          <a:effectLst/>
                          <a:hlinkClick r:id="rId6"/>
                        </a:rPr>
                        <a:t>clear()</a:t>
                      </a:r>
                      <a:endParaRPr lang="en-IN" sz="1200">
                        <a:effectLst/>
                      </a:endParaRPr>
                    </a:p>
                  </a:txBody>
                  <a:tcPr marL="119215" marR="119215" marT="59607" marB="59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Removes all items from the dictionary.</a:t>
                      </a:r>
                    </a:p>
                  </a:txBody>
                  <a:tcPr marL="119215" marR="119215" marT="59607" marB="59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613359"/>
                  </a:ext>
                </a:extLst>
              </a:tr>
              <a:tr h="515924">
                <a:tc>
                  <a:txBody>
                    <a:bodyPr/>
                    <a:lstStyle/>
                    <a:p>
                      <a:r>
                        <a:rPr lang="en-IN" sz="1200" u="none" strike="noStrike">
                          <a:solidFill>
                            <a:srgbClr val="0556F3"/>
                          </a:solidFill>
                          <a:effectLst/>
                          <a:hlinkClick r:id="rId7"/>
                        </a:rPr>
                        <a:t>keys()</a:t>
                      </a:r>
                      <a:endParaRPr lang="en-IN" sz="1200">
                        <a:effectLst/>
                      </a:endParaRPr>
                    </a:p>
                  </a:txBody>
                  <a:tcPr marL="119215" marR="119215" marT="59607" marB="59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Returns a new object of the dictionary's keys.</a:t>
                      </a:r>
                    </a:p>
                  </a:txBody>
                  <a:tcPr marL="119215" marR="119215" marT="59607" marB="59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778523"/>
                  </a:ext>
                </a:extLst>
              </a:tr>
              <a:tr h="515924">
                <a:tc>
                  <a:txBody>
                    <a:bodyPr/>
                    <a:lstStyle/>
                    <a:p>
                      <a:r>
                        <a:rPr lang="en-IN" sz="1200" u="none" strike="noStrike">
                          <a:solidFill>
                            <a:srgbClr val="0556F3"/>
                          </a:solidFill>
                          <a:effectLst/>
                          <a:hlinkClick r:id="rId8"/>
                        </a:rPr>
                        <a:t>values()</a:t>
                      </a:r>
                      <a:endParaRPr lang="en-IN" sz="1200">
                        <a:effectLst/>
                      </a:endParaRPr>
                    </a:p>
                  </a:txBody>
                  <a:tcPr marL="119215" marR="119215" marT="59607" marB="59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Returns a new object of the dictionary's values</a:t>
                      </a:r>
                    </a:p>
                  </a:txBody>
                  <a:tcPr marL="119215" marR="119215" marT="59607" marB="59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517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0451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7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297511861"/>
              </p:ext>
            </p:extLst>
          </p:nvPr>
        </p:nvGraphicFramePr>
        <p:xfrm>
          <a:off x="272690" y="62381"/>
          <a:ext cx="11919309" cy="664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2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6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415">
                <a:tc>
                  <a:txBody>
                    <a:bodyPr/>
                    <a:lstStyle/>
                    <a:p>
                      <a:r>
                        <a:rPr lang="en-US" sz="3200" dirty="0"/>
                        <a:t>Method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309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/>
                        <a:t>clear()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/>
                        <a:t>Removes all the elements from the dictionary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309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/>
                        <a:t>copy()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/>
                        <a:t>Returns a copy of the dictionary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309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 err="1"/>
                        <a:t>fromkeys</a:t>
                      </a:r>
                      <a:r>
                        <a:rPr lang="en-US" sz="2400" b="1" dirty="0"/>
                        <a:t>()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/>
                        <a:t>Returns a dictionary with the specified keys and values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309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/>
                        <a:t>get()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/>
                        <a:t>Returns the value of the specified key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309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/>
                        <a:t>items()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/>
                        <a:t>Returns a list containing a </a:t>
                      </a:r>
                      <a:r>
                        <a:rPr lang="en-US" sz="2400" dirty="0" err="1"/>
                        <a:t>tuple</a:t>
                      </a:r>
                      <a:r>
                        <a:rPr lang="en-US" sz="2400" dirty="0"/>
                        <a:t> for each key value pair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309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/>
                        <a:t>keys()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/>
                        <a:t>Returns a list containing the dictionary's keys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309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/>
                        <a:t>pop()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/>
                        <a:t>Removes the element with the specified key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6309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 err="1"/>
                        <a:t>popitem</a:t>
                      </a:r>
                      <a:r>
                        <a:rPr lang="en-US" sz="2400" b="1" dirty="0"/>
                        <a:t>()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/>
                        <a:t>Removes the last inserted key-value pair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17883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 err="1"/>
                        <a:t>setdefault</a:t>
                      </a:r>
                      <a:r>
                        <a:rPr lang="en-US" sz="2400" b="1" dirty="0"/>
                        <a:t>()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/>
                        <a:t>Returns the value of the specified key. If the key does not exist: insert the key, with the specified value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6309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/>
                        <a:t>update()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/>
                        <a:t>Updates the dictionary with the specified key-value pairs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06309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/>
                        <a:t>values()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/>
                        <a:t>Returns a list of all the values in the dictionary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20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52" y="137431"/>
            <a:ext cx="9622185" cy="26641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393" y="3149591"/>
            <a:ext cx="9622185" cy="34253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ounded Rectangle 1"/>
          <p:cNvSpPr/>
          <p:nvPr/>
        </p:nvSpPr>
        <p:spPr>
          <a:xfrm>
            <a:off x="6714698" y="1012292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Clear()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1" y="4162568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Copy()</a:t>
            </a:r>
          </a:p>
        </p:txBody>
      </p:sp>
    </p:spTree>
    <p:extLst>
      <p:ext uri="{BB962C8B-B14F-4D97-AF65-F5344CB8AC3E}">
        <p14:creationId xmlns:p14="http://schemas.microsoft.com/office/powerpoint/2010/main" val="3263771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30" y="257627"/>
            <a:ext cx="10361612" cy="5730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ounded Rectangle 1"/>
          <p:cNvSpPr/>
          <p:nvPr/>
        </p:nvSpPr>
        <p:spPr>
          <a:xfrm>
            <a:off x="8467013" y="3717593"/>
            <a:ext cx="2039061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Syntax</a:t>
            </a:r>
          </a:p>
          <a:p>
            <a:pPr algn="ctr"/>
            <a:r>
              <a:rPr lang="en-IN" dirty="0" err="1"/>
              <a:t>fromkeys</a:t>
            </a:r>
            <a:r>
              <a:rPr lang="en-IN" dirty="0"/>
              <a:t>(</a:t>
            </a:r>
            <a:r>
              <a:rPr lang="en-IN" dirty="0" err="1"/>
              <a:t>seq</a:t>
            </a:r>
            <a:r>
              <a:rPr lang="en-IN" dirty="0"/>
              <a:t>[,</a:t>
            </a:r>
            <a:r>
              <a:rPr lang="en-IN" dirty="0" err="1"/>
              <a:t>val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72706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33" y="272370"/>
            <a:ext cx="10528981" cy="27547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448" y="3013496"/>
            <a:ext cx="6421438" cy="3644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ounded Rectangle 1"/>
          <p:cNvSpPr/>
          <p:nvPr/>
        </p:nvSpPr>
        <p:spPr>
          <a:xfrm>
            <a:off x="7451677" y="1692322"/>
            <a:ext cx="2654347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Dict.get</a:t>
            </a:r>
            <a:r>
              <a:rPr lang="en-IN" dirty="0"/>
              <a:t>(key) returns the value for the key passed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7469" y="4579250"/>
            <a:ext cx="3061506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Dict.Items</a:t>
            </a:r>
            <a:r>
              <a:rPr lang="en-IN" dirty="0"/>
              <a:t>() returns list of </a:t>
            </a:r>
            <a:r>
              <a:rPr lang="en-IN" dirty="0" err="1"/>
              <a:t>tupless</a:t>
            </a:r>
            <a:r>
              <a:rPr lang="en-IN" dirty="0"/>
              <a:t>(key-value pair)</a:t>
            </a:r>
          </a:p>
        </p:txBody>
      </p:sp>
    </p:spTree>
    <p:extLst>
      <p:ext uri="{BB962C8B-B14F-4D97-AF65-F5344CB8AC3E}">
        <p14:creationId xmlns:p14="http://schemas.microsoft.com/office/powerpoint/2010/main" val="3809683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1" y="1487261"/>
            <a:ext cx="11191249" cy="3113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ounded Rectangle 1"/>
          <p:cNvSpPr/>
          <p:nvPr/>
        </p:nvSpPr>
        <p:spPr>
          <a:xfrm>
            <a:off x="8488906" y="3166281"/>
            <a:ext cx="2598193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Dict.Keys</a:t>
            </a:r>
            <a:r>
              <a:rPr lang="en-IN" dirty="0"/>
              <a:t>() returns a list of </a:t>
            </a:r>
            <a:r>
              <a:rPr lang="en-IN" dirty="0" err="1"/>
              <a:t>keysin</a:t>
            </a:r>
            <a:r>
              <a:rPr lang="en-IN" dirty="0"/>
              <a:t> the dictionary</a:t>
            </a:r>
          </a:p>
        </p:txBody>
      </p:sp>
    </p:spTree>
    <p:extLst>
      <p:ext uri="{BB962C8B-B14F-4D97-AF65-F5344CB8AC3E}">
        <p14:creationId xmlns:p14="http://schemas.microsoft.com/office/powerpoint/2010/main" val="12174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75" y="130630"/>
            <a:ext cx="8779257" cy="32657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440" y="3586841"/>
            <a:ext cx="8303760" cy="31122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9429840" y="1991160"/>
              <a:ext cx="360" cy="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20480" y="1981800"/>
                <a:ext cx="1908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ounded Rectangle 2"/>
          <p:cNvSpPr/>
          <p:nvPr/>
        </p:nvSpPr>
        <p:spPr>
          <a:xfrm>
            <a:off x="7137780" y="1076760"/>
            <a:ext cx="2796074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Syntax:</a:t>
            </a:r>
          </a:p>
          <a:p>
            <a:pPr algn="ctr"/>
            <a:r>
              <a:rPr lang="en-IN" dirty="0" err="1"/>
              <a:t>Dict.pop</a:t>
            </a:r>
            <a:r>
              <a:rPr lang="en-IN" dirty="0"/>
              <a:t>(key[,default])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40035" y="4735773"/>
            <a:ext cx="1405719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popitem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92797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039" y="153080"/>
            <a:ext cx="7733847" cy="60997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ounded Rectangle 1"/>
          <p:cNvSpPr/>
          <p:nvPr/>
        </p:nvSpPr>
        <p:spPr>
          <a:xfrm>
            <a:off x="6619163" y="1897038"/>
            <a:ext cx="2724861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Syntax:</a:t>
            </a:r>
          </a:p>
          <a:p>
            <a:pPr algn="ctr"/>
            <a:r>
              <a:rPr lang="en-IN" dirty="0" err="1"/>
              <a:t>setdefault</a:t>
            </a:r>
            <a:r>
              <a:rPr lang="en-IN" dirty="0"/>
              <a:t>(</a:t>
            </a:r>
            <a:r>
              <a:rPr lang="en-IN" dirty="0" err="1"/>
              <a:t>key,value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82043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1810"/>
            <a:ext cx="10508343" cy="33764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558" y="3666733"/>
            <a:ext cx="10509622" cy="28646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5259600" y="4045320"/>
              <a:ext cx="360" cy="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50240" y="4035960"/>
                <a:ext cx="1908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ounded Rectangle 2"/>
          <p:cNvSpPr/>
          <p:nvPr/>
        </p:nvSpPr>
        <p:spPr>
          <a:xfrm>
            <a:off x="7192369" y="1542197"/>
            <a:ext cx="3315974" cy="6550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Syntax:</a:t>
            </a:r>
          </a:p>
          <a:p>
            <a:pPr algn="ctr"/>
            <a:r>
              <a:rPr lang="en-IN" dirty="0"/>
              <a:t>Dict1.update(Dict2)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52179" y="4529686"/>
            <a:ext cx="1501253" cy="7779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values()</a:t>
            </a:r>
          </a:p>
        </p:txBody>
      </p:sp>
    </p:spTree>
    <p:extLst>
      <p:ext uri="{BB962C8B-B14F-4D97-AF65-F5344CB8AC3E}">
        <p14:creationId xmlns:p14="http://schemas.microsoft.com/office/powerpoint/2010/main" val="1456191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17516</TotalTime>
  <Words>486</Words>
  <Application>Microsoft Office PowerPoint</Application>
  <PresentationFormat>Widescreen</PresentationFormat>
  <Paragraphs>72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euclid_circular_a</vt:lpstr>
      <vt:lpstr>Wingdings</vt:lpstr>
      <vt:lpstr>Office Theme</vt:lpstr>
      <vt:lpstr>PowerPoint Presentation</vt:lpstr>
      <vt:lpstr>PowerPoint Presentation</vt:lpstr>
      <vt:lpstr>What is a Dictionary?</vt:lpstr>
      <vt:lpstr>PowerPoint Presentation</vt:lpstr>
      <vt:lpstr>PowerPoint Presentation</vt:lpstr>
      <vt:lpstr>PowerPoint Presentation</vt:lpstr>
      <vt:lpstr>How to create a dictionary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- while Loop Statements</dc:title>
  <dc:creator>THOKA UDAYAKUMAR</dc:creator>
  <cp:lastModifiedBy>DELL LATITUDE E5470</cp:lastModifiedBy>
  <cp:revision>416</cp:revision>
  <dcterms:created xsi:type="dcterms:W3CDTF">2022-06-01T05:47:10Z</dcterms:created>
  <dcterms:modified xsi:type="dcterms:W3CDTF">2025-04-12T15:41:42Z</dcterms:modified>
</cp:coreProperties>
</file>